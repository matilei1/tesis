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4" r:id="rId5"/>
    <p:sldId id="260" r:id="rId6"/>
    <p:sldId id="262" r:id="rId7"/>
    <p:sldId id="263" r:id="rId8"/>
    <p:sldId id="269" r:id="rId9"/>
    <p:sldId id="270" r:id="rId10"/>
    <p:sldId id="265" r:id="rId11"/>
    <p:sldId id="267" r:id="rId12"/>
    <p:sldId id="268" r:id="rId13"/>
    <p:sldId id="266" r:id="rId1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4A916-2C2E-265E-D1A7-F8BA8BAA5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2B618F-FEF4-D0FB-4038-D93A262EA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43312A-AEFB-3177-E12B-386C4F429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7C3C00-ADC0-ABB2-EF55-4D170DA0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B0C28A-E393-39C0-65D4-7252445F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3887044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7B6CD-9456-B138-ECD2-C8D7A666C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74D6B0-7AF3-685F-CEAB-5529E05E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F52F25-C2C6-7F7B-276E-37CD648AA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947A73-C5CF-9FE2-967B-D4D866F9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ECAE93-9144-BF33-1401-DF6FFF6F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3929711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56A89-B019-96BD-5BAD-62AE0C3AC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2B60B4-76B8-D88B-5674-F86DC3670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DE800A-255F-4AE1-5E56-606A61B37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FC92BF-9B9F-10CC-5BC8-BAC85DDB9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372357-062E-F22F-4B80-ED779DDD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426009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99D17-3BAA-B1F3-D450-274A02753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60F58E-6555-CC20-7FB5-60DB4AEFC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CAA47F-EB54-628D-A823-3A00718BE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90AFF8-D9BE-4C13-0483-E843C51CA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CF5C03-2790-90EB-0D65-AA62820C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91F526-CDE5-755B-4A3F-50F80776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2846858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9CF108-6B99-8CCE-C8FD-D995F996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0B922A-6156-2235-AA95-A8B8C02B3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40D8F2-325E-B2D8-EDDA-56DE9D1F2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58884F1-5F33-E36A-DEE4-9693FBE7D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DF08E0-1508-F512-337D-F5C8A5F0C3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53ED18-81E3-9782-22CD-40D6A1909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8D2E67-9BFA-E800-3A7E-8900D96D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56AEF8A-22F0-544A-1B96-40996F1A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3044769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0A5D8-AC89-1289-2F04-0814CB9B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703452B-17EB-394F-735B-5A921A58A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0A54D4-94C4-7743-43A2-1A52792A4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9886359-BA16-2E60-D21D-C9E1AD88B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282747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9082406-6A57-2057-24EC-1A6C257A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4737A7-3975-9225-3AAC-282F9F45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58996F-BDE4-86FA-BD9D-DFCAB914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3576406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B1326-48D6-CCCF-9030-3AC9A67CD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04BD84-4F55-3649-4756-7A4CE760D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111F47-438E-ECB7-5D1F-CB07E54FD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1E9545-DD0E-6A0B-2B88-934785A7E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3CD897-12AF-A56D-CB14-1B41012DE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257B85-275B-F539-96E6-BF6C3F487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351477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5BFE8-4F8E-9F77-F45C-B4D87029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3CB21F6-368F-6F50-5C0D-6BE2DDE1E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12122B-29C5-7F4E-7EFB-41EF277FC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7332B2-B78B-790B-184B-C7299CC4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1CBB3B-17B4-113F-AA5B-E804167AD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8A1FFA-A66B-F32D-E3CE-2337B07F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6603574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A4049-BEF3-0AFD-A19B-45FF1D820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FD3394-1BB2-4A78-E0C2-B81E3B0A0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B1E014-02B1-2EA8-C324-69C06571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D9E46F-A5FD-E000-2817-06E54BC7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F151D9-94A1-87E1-B673-4D3D316B9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5804739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B72A6E5-A0E4-586A-8BAE-08F39AC9E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C75B9-2362-53B4-3282-7D8A22F06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97AA35-3C24-08C9-2992-BE0C70C5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103D78-DCDD-276E-7575-A1992D70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60B15A-BAF6-5EBF-7331-0AFFFFAB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3337686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48B6D4E-E3C2-3792-E3C4-2CBC2E052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82E89E-FB21-817B-8050-7AD81F9CE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A1C48C-F8B6-B30A-3815-D7ADD14FF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9214F-88E2-1045-9D0B-C2ECD481C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38CA17-DD6E-139F-6ED9-FAD83BB72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670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-1576872" y="748364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PROYECTO “</a:t>
            </a:r>
            <a:r>
              <a:rPr lang="es-MX" sz="4400" dirty="0" err="1"/>
              <a:t>Game</a:t>
            </a:r>
            <a:r>
              <a:rPr lang="es-MX" sz="4400" dirty="0"/>
              <a:t> Genesis”</a:t>
            </a:r>
          </a:p>
          <a:p>
            <a:pPr algn="ctr"/>
            <a:r>
              <a:rPr lang="es-MX" sz="2400" dirty="0"/>
              <a:t>PRESENTACIÓN FINAL CAPSTONE</a:t>
            </a:r>
            <a:endParaRPr lang="es-CL" sz="2400" dirty="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A79CDA60-0C20-09C3-1341-87D5B37152D3}"/>
              </a:ext>
            </a:extLst>
          </p:cNvPr>
          <p:cNvGrpSpPr/>
          <p:nvPr/>
        </p:nvGrpSpPr>
        <p:grpSpPr>
          <a:xfrm>
            <a:off x="1803391" y="2306319"/>
            <a:ext cx="7633494" cy="2749214"/>
            <a:chOff x="0" y="0"/>
            <a:chExt cx="7633494" cy="2749214"/>
          </a:xfrm>
        </p:grpSpPr>
        <p:sp>
          <p:nvSpPr>
            <p:cNvPr id="3" name="Rectángulo: esquinas redondeadas 2">
              <a:extLst>
                <a:ext uri="{FF2B5EF4-FFF2-40B4-BE49-F238E27FC236}">
                  <a16:creationId xmlns:a16="http://schemas.microsoft.com/office/drawing/2014/main" id="{381A946B-E343-AC5B-18D3-5210851C3325}"/>
                </a:ext>
              </a:extLst>
            </p:cNvPr>
            <p:cNvSpPr/>
            <p:nvPr/>
          </p:nvSpPr>
          <p:spPr>
            <a:xfrm>
              <a:off x="0" y="0"/>
              <a:ext cx="7633494" cy="2749214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hueOff val="0"/>
                <a:satOff val="0"/>
                <a:lumOff val="0"/>
                <a:alphaOff val="0"/>
              </a:schemeClr>
            </a:fillRef>
            <a:effectRef idx="3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EDC3F5EA-3C13-1F65-A466-430BEF1CDEC6}"/>
                </a:ext>
              </a:extLst>
            </p:cNvPr>
            <p:cNvSpPr txBox="1"/>
            <p:nvPr/>
          </p:nvSpPr>
          <p:spPr>
            <a:xfrm>
              <a:off x="1801620" y="0"/>
              <a:ext cx="5831873" cy="274921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2870" tIns="102870" rIns="102870" bIns="102870" numCol="1" spcCol="1270" anchor="t" anchorCtr="0">
              <a:noAutofit/>
            </a:bodyPr>
            <a:lstStyle/>
            <a:p>
              <a:pPr marL="0" lvl="0" indent="0" algn="l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2700" kern="1200" dirty="0"/>
                <a:t>Matias Reyes</a:t>
              </a:r>
              <a:endParaRPr lang="es-CL" sz="2700" kern="1200" dirty="0"/>
            </a:p>
            <a:p>
              <a:pPr marL="228600" lvl="1" indent="-228600" algn="l" defTabSz="9334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L" sz="2100" kern="1200" dirty="0"/>
                <a:t>Jefe de proyecto </a:t>
              </a:r>
            </a:p>
            <a:p>
              <a:pPr marL="228600" lvl="1" indent="-228600" algn="l" defTabSz="9334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L" sz="2100" kern="1200" dirty="0"/>
                <a:t>Programación</a:t>
              </a:r>
            </a:p>
            <a:p>
              <a:pPr marL="228600" lvl="1" indent="-228600" algn="l" defTabSz="9334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L" sz="2100" kern="1200" dirty="0"/>
                <a:t>Diseño</a:t>
              </a:r>
            </a:p>
            <a:p>
              <a:pPr marL="228600" lvl="1" indent="-228600" algn="l" defTabSz="9334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L" sz="2100" kern="1200" dirty="0"/>
                <a:t>Documentación</a:t>
              </a:r>
            </a:p>
            <a:p>
              <a:pPr marL="228600" lvl="1" indent="-228600" algn="l" defTabSz="9334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CL" sz="2100" kern="1200" dirty="0"/>
                <a:t>Arquitectura</a:t>
              </a:r>
            </a:p>
            <a:p>
              <a:pPr marL="228600" lvl="1" indent="-228600" algn="l" defTabSz="9334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s-CL" sz="21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919631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Game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 Genesis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DESCRIPCIÓN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CB288BD-84B1-DF16-6004-32D5F8A61FF7}"/>
              </a:ext>
            </a:extLst>
          </p:cNvPr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Problema o dolor</a:t>
            </a:r>
          </a:p>
          <a:p>
            <a:pPr lvl="0" algn="ctr"/>
            <a:endParaRPr lang="es-MX" u="sng" dirty="0"/>
          </a:p>
          <a:p>
            <a:pPr latinLnBrk="1"/>
            <a:r>
              <a:rPr lang="es-MX" dirty="0"/>
              <a:t>• La creación manual de niveles es lenta y costosa</a:t>
            </a:r>
          </a:p>
          <a:p>
            <a:pPr latinLnBrk="1"/>
            <a:r>
              <a:rPr lang="es-MX" dirty="0"/>
              <a:t>• Los diseñadores gastan 60-70% del tiempo en diseño de niveles</a:t>
            </a:r>
          </a:p>
          <a:p>
            <a:pPr latinLnBrk="1"/>
            <a:r>
              <a:rPr lang="es-MX" dirty="0"/>
              <a:t>• Falta de variedad y repetitividad en niveles generados básicamente</a:t>
            </a:r>
          </a:p>
          <a:p>
            <a:pPr lvl="0" algn="ctr"/>
            <a:endParaRPr lang="es-CL" sz="1800" u="sng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DC84C5C-77A0-B2A2-F0BB-8A7713B865EA}"/>
              </a:ext>
            </a:extLst>
          </p:cNvPr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Propuesta de solución</a:t>
            </a:r>
          </a:p>
          <a:p>
            <a:pPr lvl="0" algn="ctr"/>
            <a:endParaRPr lang="es-MX" u="sng" dirty="0"/>
          </a:p>
          <a:p>
            <a:pPr latinLnBrk="1"/>
            <a:r>
              <a:rPr lang="es-MX" dirty="0" err="1"/>
              <a:t>Game</a:t>
            </a:r>
            <a:r>
              <a:rPr lang="es-MX" dirty="0"/>
              <a:t> Genesis - Sistema inteligente que automatiza la creación de niveles</a:t>
            </a:r>
          </a:p>
          <a:p>
            <a:pPr latinLnBrk="1"/>
            <a:r>
              <a:rPr lang="es-MX" dirty="0"/>
              <a:t>• Generación procedural adaptativa</a:t>
            </a:r>
          </a:p>
          <a:p>
            <a:pPr latinLnBrk="1"/>
            <a:r>
              <a:rPr lang="es-MX" dirty="0"/>
              <a:t>• Optimización automática con IA</a:t>
            </a:r>
          </a:p>
          <a:p>
            <a:pPr latinLnBrk="1"/>
            <a:r>
              <a:rPr lang="es-MX" dirty="0"/>
              <a:t>• Múltiples estilos y dificultades.</a:t>
            </a:r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E4B09E7F-FBE6-31BF-0C0F-DD32DBE05724}"/>
              </a:ext>
            </a:extLst>
          </p:cNvPr>
          <p:cNvSpPr/>
          <p:nvPr/>
        </p:nvSpPr>
        <p:spPr>
          <a:xfrm>
            <a:off x="5456903" y="3736258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57307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08196" y="46066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Game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 Genesis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 General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733B57D9-BF13-9372-D021-14655CF00C4C}"/>
              </a:ext>
            </a:extLst>
          </p:cNvPr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 Específicos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8D4A171-2FE3-5173-34E6-9DC3D74E7376}"/>
              </a:ext>
            </a:extLst>
          </p:cNvPr>
          <p:cNvSpPr/>
          <p:nvPr/>
        </p:nvSpPr>
        <p:spPr>
          <a:xfrm>
            <a:off x="1071715" y="2257102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atinLnBrk="1"/>
            <a:r>
              <a:rPr lang="es-MX" dirty="0"/>
              <a:t>Desarrollar un sistema de generación y optimización de niveles </a:t>
            </a:r>
          </a:p>
          <a:p>
            <a:pPr latinLnBrk="1"/>
            <a:r>
              <a:rPr lang="es-MX" dirty="0"/>
              <a:t>que reduzca el tiempo de desarrollo manteniendo calidad profesional.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E63425F-86F4-531E-E0F5-7A349604A51E}"/>
              </a:ext>
            </a:extLst>
          </p:cNvPr>
          <p:cNvSpPr/>
          <p:nvPr/>
        </p:nvSpPr>
        <p:spPr>
          <a:xfrm>
            <a:off x="722711" y="4822111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atinLnBrk="1"/>
            <a:r>
              <a:rPr lang="es-MX" dirty="0"/>
              <a:t>• Implementar Distintos tipos de niveles (Laberinto, Campo Abierto, Cueva, </a:t>
            </a:r>
            <a:r>
              <a:rPr lang="es-MX" dirty="0" err="1"/>
              <a:t>Fortaleza,etc</a:t>
            </a:r>
            <a:r>
              <a:rPr lang="es-MX" dirty="0"/>
              <a:t>)</a:t>
            </a:r>
          </a:p>
          <a:p>
            <a:pPr latinLnBrk="1"/>
            <a:r>
              <a:rPr lang="es-MX" dirty="0"/>
              <a:t>• Desarrollar algoritmos utilizando IA para optimización automática</a:t>
            </a:r>
          </a:p>
          <a:p>
            <a:pPr latinLnBrk="1"/>
            <a:r>
              <a:rPr lang="es-MX" dirty="0"/>
              <a:t>• Crear interfaz visual intuitiva para el usuario</a:t>
            </a:r>
          </a:p>
        </p:txBody>
      </p:sp>
    </p:spTree>
    <p:extLst>
      <p:ext uri="{BB962C8B-B14F-4D97-AF65-F5344CB8AC3E}">
        <p14:creationId xmlns:p14="http://schemas.microsoft.com/office/powerpoint/2010/main" val="27176697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Game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 Genesis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Alcances y limitaciones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995646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Game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 Genesis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Metodología de trabajo para el desarrollo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ítulo 1">
            <a:extLst>
              <a:ext uri="{FF2B5EF4-FFF2-40B4-BE49-F238E27FC236}">
                <a16:creationId xmlns:a16="http://schemas.microsoft.com/office/drawing/2014/main" id="{071B0A38-CD29-E452-2AB5-E0E1B2EB5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763" y="2435290"/>
            <a:ext cx="10422294" cy="3664683"/>
          </a:xfrm>
        </p:spPr>
        <p:txBody>
          <a:bodyPr>
            <a:normAutofit fontScale="40000" lnSpcReduction="20000"/>
          </a:bodyPr>
          <a:lstStyle/>
          <a:p>
            <a:pPr latinLnBrk="1"/>
            <a:r>
              <a:rPr lang="es-MX" sz="7200" dirty="0"/>
              <a:t>METODOLOGÍA ÁGIL + PROTOTIPADO RÁPIDO</a:t>
            </a:r>
          </a:p>
          <a:p>
            <a:pPr latinLnBrk="1"/>
            <a:endParaRPr lang="es-MX" sz="7200" dirty="0"/>
          </a:p>
          <a:p>
            <a:pPr latinLnBrk="1"/>
            <a:r>
              <a:rPr lang="es-MX" sz="7200" dirty="0"/>
              <a:t>FASES:</a:t>
            </a:r>
          </a:p>
          <a:p>
            <a:pPr latinLnBrk="1"/>
            <a:r>
              <a:rPr lang="es-MX" sz="7200" dirty="0"/>
              <a:t>1. INVESTIGACIÓN</a:t>
            </a:r>
          </a:p>
          <a:p>
            <a:pPr latinLnBrk="1"/>
            <a:r>
              <a:rPr lang="es-MX" sz="7200" dirty="0"/>
              <a:t>2. DISEÑO</a:t>
            </a:r>
          </a:p>
          <a:p>
            <a:pPr latinLnBrk="1"/>
            <a:r>
              <a:rPr lang="es-MX" sz="7200" dirty="0"/>
              <a:t>3. IMPLEMENTACIÓN</a:t>
            </a:r>
          </a:p>
          <a:p>
            <a:pPr latinLnBrk="1"/>
            <a:r>
              <a:rPr lang="es-MX" sz="7200" dirty="0"/>
              <a:t>4. PRUEBAS</a:t>
            </a:r>
          </a:p>
          <a:p>
            <a:pPr latinLnBrk="1"/>
            <a:r>
              <a:rPr lang="es-MX" sz="7200" dirty="0"/>
              <a:t>5. OPTIMIZACIÓN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96419974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Game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 Genesis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Cronograma para el desarrollo del proyecto</a:t>
            </a:r>
          </a:p>
          <a:p>
            <a:pPr algn="ctr"/>
            <a:r>
              <a:rPr lang="es-MX" sz="1600" dirty="0">
                <a:solidFill>
                  <a:schemeClr val="bg2">
                    <a:lumMod val="50000"/>
                  </a:schemeClr>
                </a:solidFill>
              </a:rPr>
              <a:t>* Utilizar cronograma de inicio, indicando el cumplimiento al término del proyecto </a:t>
            </a:r>
            <a:endParaRPr lang="es-CL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BB5CADE-DDA2-A4F7-629E-7AEEB49F5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563235"/>
              </p:ext>
            </p:extLst>
          </p:nvPr>
        </p:nvGraphicFramePr>
        <p:xfrm>
          <a:off x="989046" y="2353120"/>
          <a:ext cx="10496942" cy="3791064"/>
        </p:xfrm>
        <a:graphic>
          <a:graphicData uri="http://schemas.openxmlformats.org/drawingml/2006/table">
            <a:tbl>
              <a:tblPr firstRow="1" firstCol="1" bandRow="1"/>
              <a:tblGrid>
                <a:gridCol w="1277370">
                  <a:extLst>
                    <a:ext uri="{9D8B030D-6E8A-4147-A177-3AD203B41FA5}">
                      <a16:colId xmlns:a16="http://schemas.microsoft.com/office/drawing/2014/main" val="1385875515"/>
                    </a:ext>
                  </a:extLst>
                </a:gridCol>
                <a:gridCol w="506789">
                  <a:extLst>
                    <a:ext uri="{9D8B030D-6E8A-4147-A177-3AD203B41FA5}">
                      <a16:colId xmlns:a16="http://schemas.microsoft.com/office/drawing/2014/main" val="3026825544"/>
                    </a:ext>
                  </a:extLst>
                </a:gridCol>
                <a:gridCol w="494497">
                  <a:extLst>
                    <a:ext uri="{9D8B030D-6E8A-4147-A177-3AD203B41FA5}">
                      <a16:colId xmlns:a16="http://schemas.microsoft.com/office/drawing/2014/main" val="3982458150"/>
                    </a:ext>
                  </a:extLst>
                </a:gridCol>
                <a:gridCol w="497332">
                  <a:extLst>
                    <a:ext uri="{9D8B030D-6E8A-4147-A177-3AD203B41FA5}">
                      <a16:colId xmlns:a16="http://schemas.microsoft.com/office/drawing/2014/main" val="2813336322"/>
                    </a:ext>
                  </a:extLst>
                </a:gridCol>
                <a:gridCol w="497332">
                  <a:extLst>
                    <a:ext uri="{9D8B030D-6E8A-4147-A177-3AD203B41FA5}">
                      <a16:colId xmlns:a16="http://schemas.microsoft.com/office/drawing/2014/main" val="666810208"/>
                    </a:ext>
                  </a:extLst>
                </a:gridCol>
                <a:gridCol w="494497">
                  <a:extLst>
                    <a:ext uri="{9D8B030D-6E8A-4147-A177-3AD203B41FA5}">
                      <a16:colId xmlns:a16="http://schemas.microsoft.com/office/drawing/2014/main" val="441682826"/>
                    </a:ext>
                  </a:extLst>
                </a:gridCol>
                <a:gridCol w="494497">
                  <a:extLst>
                    <a:ext uri="{9D8B030D-6E8A-4147-A177-3AD203B41FA5}">
                      <a16:colId xmlns:a16="http://schemas.microsoft.com/office/drawing/2014/main" val="1853034618"/>
                    </a:ext>
                  </a:extLst>
                </a:gridCol>
                <a:gridCol w="494497">
                  <a:extLst>
                    <a:ext uri="{9D8B030D-6E8A-4147-A177-3AD203B41FA5}">
                      <a16:colId xmlns:a16="http://schemas.microsoft.com/office/drawing/2014/main" val="161666760"/>
                    </a:ext>
                  </a:extLst>
                </a:gridCol>
                <a:gridCol w="494497">
                  <a:extLst>
                    <a:ext uri="{9D8B030D-6E8A-4147-A177-3AD203B41FA5}">
                      <a16:colId xmlns:a16="http://schemas.microsoft.com/office/drawing/2014/main" val="2597728732"/>
                    </a:ext>
                  </a:extLst>
                </a:gridCol>
                <a:gridCol w="494497">
                  <a:extLst>
                    <a:ext uri="{9D8B030D-6E8A-4147-A177-3AD203B41FA5}">
                      <a16:colId xmlns:a16="http://schemas.microsoft.com/office/drawing/2014/main" val="3367593723"/>
                    </a:ext>
                  </a:extLst>
                </a:gridCol>
                <a:gridCol w="494497">
                  <a:extLst>
                    <a:ext uri="{9D8B030D-6E8A-4147-A177-3AD203B41FA5}">
                      <a16:colId xmlns:a16="http://schemas.microsoft.com/office/drawing/2014/main" val="1610561930"/>
                    </a:ext>
                  </a:extLst>
                </a:gridCol>
                <a:gridCol w="494497">
                  <a:extLst>
                    <a:ext uri="{9D8B030D-6E8A-4147-A177-3AD203B41FA5}">
                      <a16:colId xmlns:a16="http://schemas.microsoft.com/office/drawing/2014/main" val="4078685469"/>
                    </a:ext>
                  </a:extLst>
                </a:gridCol>
                <a:gridCol w="496387">
                  <a:extLst>
                    <a:ext uri="{9D8B030D-6E8A-4147-A177-3AD203B41FA5}">
                      <a16:colId xmlns:a16="http://schemas.microsoft.com/office/drawing/2014/main" val="1033199576"/>
                    </a:ext>
                  </a:extLst>
                </a:gridCol>
                <a:gridCol w="496387">
                  <a:extLst>
                    <a:ext uri="{9D8B030D-6E8A-4147-A177-3AD203B41FA5}">
                      <a16:colId xmlns:a16="http://schemas.microsoft.com/office/drawing/2014/main" val="3244852290"/>
                    </a:ext>
                  </a:extLst>
                </a:gridCol>
                <a:gridCol w="496387">
                  <a:extLst>
                    <a:ext uri="{9D8B030D-6E8A-4147-A177-3AD203B41FA5}">
                      <a16:colId xmlns:a16="http://schemas.microsoft.com/office/drawing/2014/main" val="2661357519"/>
                    </a:ext>
                  </a:extLst>
                </a:gridCol>
                <a:gridCol w="496387">
                  <a:extLst>
                    <a:ext uri="{9D8B030D-6E8A-4147-A177-3AD203B41FA5}">
                      <a16:colId xmlns:a16="http://schemas.microsoft.com/office/drawing/2014/main" val="1629908258"/>
                    </a:ext>
                  </a:extLst>
                </a:gridCol>
                <a:gridCol w="496387">
                  <a:extLst>
                    <a:ext uri="{9D8B030D-6E8A-4147-A177-3AD203B41FA5}">
                      <a16:colId xmlns:a16="http://schemas.microsoft.com/office/drawing/2014/main" val="2147780406"/>
                    </a:ext>
                  </a:extLst>
                </a:gridCol>
                <a:gridCol w="143717">
                  <a:extLst>
                    <a:ext uri="{9D8B030D-6E8A-4147-A177-3AD203B41FA5}">
                      <a16:colId xmlns:a16="http://schemas.microsoft.com/office/drawing/2014/main" val="2368806540"/>
                    </a:ext>
                  </a:extLst>
                </a:gridCol>
                <a:gridCol w="496387">
                  <a:extLst>
                    <a:ext uri="{9D8B030D-6E8A-4147-A177-3AD203B41FA5}">
                      <a16:colId xmlns:a16="http://schemas.microsoft.com/office/drawing/2014/main" val="3867265020"/>
                    </a:ext>
                  </a:extLst>
                </a:gridCol>
                <a:gridCol w="496387">
                  <a:extLst>
                    <a:ext uri="{9D8B030D-6E8A-4147-A177-3AD203B41FA5}">
                      <a16:colId xmlns:a16="http://schemas.microsoft.com/office/drawing/2014/main" val="3959863927"/>
                    </a:ext>
                  </a:extLst>
                </a:gridCol>
                <a:gridCol w="143717">
                  <a:extLst>
                    <a:ext uri="{9D8B030D-6E8A-4147-A177-3AD203B41FA5}">
                      <a16:colId xmlns:a16="http://schemas.microsoft.com/office/drawing/2014/main" val="366369285"/>
                    </a:ext>
                  </a:extLst>
                </a:gridCol>
              </a:tblGrid>
              <a:tr h="627119"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283734"/>
                  </a:ext>
                </a:extLst>
              </a:tr>
              <a:tr h="646313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4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5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6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7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8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9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10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14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15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16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17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18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616602"/>
                  </a:ext>
                </a:extLst>
              </a:tr>
              <a:tr h="80236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1200" i="1" dirty="0">
                          <a:solidFill>
                            <a:srgbClr val="548DD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Investigación y diseño </a:t>
                      </a:r>
                      <a:r>
                        <a:rPr lang="es-CL" sz="1200" i="1" dirty="0" err="1">
                          <a:solidFill>
                            <a:srgbClr val="548DD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arquitectonico</a:t>
                      </a:r>
                      <a:endParaRPr lang="es-CL" sz="1200" i="1" dirty="0">
                        <a:solidFill>
                          <a:srgbClr val="548DD4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018220"/>
                  </a:ext>
                </a:extLst>
              </a:tr>
              <a:tr h="64631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Desarrollo de prototipo</a:t>
                      </a:r>
                      <a:endParaRPr lang="es-CL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1361947"/>
                  </a:ext>
                </a:extLst>
              </a:tr>
              <a:tr h="54783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Implementación y optimización de algoritmos y machine </a:t>
                      </a:r>
                      <a:r>
                        <a:rPr lang="es-CL" sz="12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learning</a:t>
                      </a:r>
                      <a:endParaRPr lang="es-CL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3495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4313383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Game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 Genesis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-195943" y="729363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Arquitectura del software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ítulo 1">
            <a:extLst>
              <a:ext uri="{FF2B5EF4-FFF2-40B4-BE49-F238E27FC236}">
                <a16:creationId xmlns:a16="http://schemas.microsoft.com/office/drawing/2014/main" id="{18FEAF07-6D24-4BC8-4191-968FF5C39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25" y="3884328"/>
            <a:ext cx="10515600" cy="2825381"/>
          </a:xfrm>
        </p:spPr>
        <p:txBody>
          <a:bodyPr/>
          <a:lstStyle/>
          <a:p>
            <a:r>
              <a:rPr lang="es-CL" dirty="0">
                <a:solidFill>
                  <a:schemeClr val="tx2"/>
                </a:solidFill>
              </a:rPr>
              <a:t>ARQUITECTURA MODULAR:</a:t>
            </a:r>
            <a:br>
              <a:rPr lang="es-CL" dirty="0">
                <a:solidFill>
                  <a:schemeClr val="tx2"/>
                </a:solidFill>
              </a:rPr>
            </a:br>
            <a:br>
              <a:rPr lang="es-CL" dirty="0">
                <a:solidFill>
                  <a:schemeClr val="tx2"/>
                </a:solidFill>
              </a:rPr>
            </a:br>
            <a:r>
              <a:rPr lang="es-MX" dirty="0">
                <a:solidFill>
                  <a:schemeClr val="tx1"/>
                </a:solidFill>
              </a:rPr>
              <a:t>FLUJO DE DATOS: 1. Python genera nivel base </a:t>
            </a:r>
            <a:br>
              <a:rPr lang="es-MX" dirty="0">
                <a:solidFill>
                  <a:schemeClr val="tx1"/>
                </a:solidFill>
              </a:rPr>
            </a:br>
            <a:r>
              <a:rPr lang="es-MX" dirty="0">
                <a:solidFill>
                  <a:schemeClr val="tx1"/>
                </a:solidFill>
              </a:rPr>
              <a:t>1. Usuario selecciona parámetros en Godot </a:t>
            </a:r>
            <a:br>
              <a:rPr lang="es-MX" dirty="0">
                <a:solidFill>
                  <a:schemeClr val="tx1"/>
                </a:solidFill>
              </a:rPr>
            </a:br>
            <a:r>
              <a:rPr lang="es-MX" dirty="0">
                <a:solidFill>
                  <a:schemeClr val="tx1"/>
                </a:solidFill>
              </a:rPr>
              <a:t>3. IA optimiza y valida </a:t>
            </a:r>
            <a:br>
              <a:rPr lang="es-MX" dirty="0">
                <a:solidFill>
                  <a:schemeClr val="tx1"/>
                </a:solidFill>
              </a:rPr>
            </a:br>
            <a:r>
              <a:rPr lang="es-MX" dirty="0">
                <a:solidFill>
                  <a:schemeClr val="tx1"/>
                </a:solidFill>
              </a:rPr>
              <a:t>4. Godot visualiza resultado final</a:t>
            </a:r>
            <a:endParaRPr lang="es-CL" dirty="0">
              <a:solidFill>
                <a:schemeClr val="tx1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BCBE063-E46F-85CC-9E9D-50B15BBFA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36129"/>
            <a:ext cx="12192000" cy="2148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9146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Game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 Genesis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Modelo de datos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n 9">
            <a:extLst>
              <a:ext uri="{FF2B5EF4-FFF2-40B4-BE49-F238E27FC236}">
                <a16:creationId xmlns:a16="http://schemas.microsoft.com/office/drawing/2014/main" id="{5AC0C87B-0C4E-A346-BCE8-52D87ACE9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78986"/>
            <a:ext cx="12192000" cy="430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457618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Game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 Genesis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Tecnologías utilizadas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35D34F56-BC6F-934C-629A-E4792383A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88" y="1505664"/>
            <a:ext cx="2476846" cy="249589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C547DA4-E5C8-5570-35A8-1717EA28FB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57687"/>
            <a:ext cx="2429214" cy="240063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0F8F934-6F41-2348-839D-654055CB21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1358" y="3195739"/>
            <a:ext cx="2391109" cy="256258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5C9A254-D476-485C-722C-6CB057D7C7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2152" y="2655085"/>
            <a:ext cx="2657846" cy="2495898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16F5332-9F2C-643B-D5FE-7130364825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3034" y="3310055"/>
            <a:ext cx="2638793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368746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DEMOSTRACIÓN DEL RESULTADO DEL PROYECTO</a:t>
            </a:r>
          </a:p>
          <a:p>
            <a:pPr algn="ctr"/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*Exposición del sistema</a:t>
            </a:r>
            <a:endParaRPr lang="es-CL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174681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Resultados obtenidos</a:t>
            </a:r>
          </a:p>
        </p:txBody>
      </p:sp>
    </p:spTree>
    <p:extLst>
      <p:ext uri="{BB962C8B-B14F-4D97-AF65-F5344CB8AC3E}">
        <p14:creationId xmlns:p14="http://schemas.microsoft.com/office/powerpoint/2010/main" val="2904893737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Obstáculos presentados durante el desarrollo</a:t>
            </a:r>
          </a:p>
        </p:txBody>
      </p:sp>
    </p:spTree>
    <p:extLst>
      <p:ext uri="{BB962C8B-B14F-4D97-AF65-F5344CB8AC3E}">
        <p14:creationId xmlns:p14="http://schemas.microsoft.com/office/powerpoint/2010/main" val="1266268508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PREGUNTAS DE LA COMISIÓN</a:t>
            </a:r>
          </a:p>
        </p:txBody>
      </p:sp>
    </p:spTree>
    <p:extLst>
      <p:ext uri="{BB962C8B-B14F-4D97-AF65-F5344CB8AC3E}">
        <p14:creationId xmlns:p14="http://schemas.microsoft.com/office/powerpoint/2010/main" val="415807973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419</Words>
  <Application>Microsoft Office PowerPoint</Application>
  <PresentationFormat>Panorámica</PresentationFormat>
  <Paragraphs>139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 Galan Cruz</dc:creator>
  <cp:lastModifiedBy>MATIAS . REYES BAEZA</cp:lastModifiedBy>
  <cp:revision>3</cp:revision>
  <dcterms:created xsi:type="dcterms:W3CDTF">2023-10-28T21:12:11Z</dcterms:created>
  <dcterms:modified xsi:type="dcterms:W3CDTF">2025-11-18T21:06:39Z</dcterms:modified>
</cp:coreProperties>
</file>